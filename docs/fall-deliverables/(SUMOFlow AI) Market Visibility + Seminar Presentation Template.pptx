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twzY8GPIAcR3gzm8/ynGcezGC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3.png"/><Relationship Id="rId4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48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2.png"/><Relationship Id="rId4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0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47.png"/><Relationship Id="rId15" Type="http://schemas.openxmlformats.org/officeDocument/2006/relationships/hyperlink" Target="https://www.gizasystems.com/solutions/transportation/" TargetMode="External"/><Relationship Id="rId14" Type="http://schemas.openxmlformats.org/officeDocument/2006/relationships/image" Target="../media/image20.png"/><Relationship Id="rId16" Type="http://schemas.openxmlformats.org/officeDocument/2006/relationships/hyperlink" Target="https://gulfnews.com/uae/transport/dubai-rta-launches-next-generation-ai-powered-traffic-signal-system-1.500195097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18.png"/><Relationship Id="rId8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2.png"/><Relationship Id="rId11" Type="http://schemas.openxmlformats.org/officeDocument/2006/relationships/image" Target="../media/image37.png"/><Relationship Id="rId10" Type="http://schemas.openxmlformats.org/officeDocument/2006/relationships/image" Target="../media/image35.png"/><Relationship Id="rId21" Type="http://schemas.openxmlformats.org/officeDocument/2006/relationships/image" Target="../media/image10.png"/><Relationship Id="rId13" Type="http://schemas.openxmlformats.org/officeDocument/2006/relationships/image" Target="../media/image34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15.png"/><Relationship Id="rId9" Type="http://schemas.openxmlformats.org/officeDocument/2006/relationships/image" Target="../media/image30.png"/><Relationship Id="rId15" Type="http://schemas.openxmlformats.org/officeDocument/2006/relationships/image" Target="../media/image38.png"/><Relationship Id="rId14" Type="http://schemas.openxmlformats.org/officeDocument/2006/relationships/image" Target="../media/image33.png"/><Relationship Id="rId17" Type="http://schemas.openxmlformats.org/officeDocument/2006/relationships/image" Target="../media/image40.png"/><Relationship Id="rId16" Type="http://schemas.openxmlformats.org/officeDocument/2006/relationships/image" Target="../media/image39.png"/><Relationship Id="rId5" Type="http://schemas.openxmlformats.org/officeDocument/2006/relationships/image" Target="../media/image24.png"/><Relationship Id="rId19" Type="http://schemas.openxmlformats.org/officeDocument/2006/relationships/image" Target="../media/image41.png"/><Relationship Id="rId6" Type="http://schemas.openxmlformats.org/officeDocument/2006/relationships/image" Target="../media/image27.png"/><Relationship Id="rId18" Type="http://schemas.openxmlformats.org/officeDocument/2006/relationships/image" Target="../media/image42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49.png"/><Relationship Id="rId13" Type="http://schemas.openxmlformats.org/officeDocument/2006/relationships/hyperlink" Target="mailto:s-mariam.mahmoud@zewailcity.edu.eg" TargetMode="External"/><Relationship Id="rId12" Type="http://schemas.openxmlformats.org/officeDocument/2006/relationships/hyperlink" Target="mailto:s-rana.gindy@zewailcity.edu.eg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15.png"/><Relationship Id="rId9" Type="http://schemas.openxmlformats.org/officeDocument/2006/relationships/image" Target="../media/image45.png"/><Relationship Id="rId14" Type="http://schemas.openxmlformats.org/officeDocument/2006/relationships/hyperlink" Target="mailto:s-roaa.said@zewailcity.edu.eg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8956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" name="Google Shape;1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2600" y="40386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" name="Google Shape;1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286000"/>
            <a:ext cx="2286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" name="Google Shape;1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38800" y="1957388"/>
            <a:ext cx="9144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986925" y="1090627"/>
            <a:ext cx="82182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SUMOFlow AI: AI-Driven Traffic Optimization for Next-Generation    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Smart Cities: A YOLO-SUMO Integration Approach</a:t>
            </a:r>
            <a:endParaRPr b="1" sz="5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087880" y="2986088"/>
            <a:ext cx="42062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878330" y="3405188"/>
            <a:ext cx="4434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Rana Waleed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813505" y="3748087"/>
            <a:ext cx="443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Roaa Raafat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878330" y="4090987"/>
            <a:ext cx="44348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Char char="•"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Mariam Alhaj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248400" y="2986088"/>
            <a:ext cx="350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74151"/>
                </a:solidFill>
                <a:latin typeface="Montserrat"/>
                <a:ea typeface="Montserrat"/>
                <a:cs typeface="Montserrat"/>
                <a:sym typeface="Montserrat"/>
              </a:rPr>
              <a:t>Supervisor: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897875" y="3405200"/>
            <a:ext cx="4307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Dr. Mohamed Maher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886825" y="5257800"/>
            <a:ext cx="341757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Montserrat"/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Submission Date: </a:t>
            </a:r>
            <a:r>
              <a:rPr lang="en-US" sz="135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r>
              <a:rPr b="0" i="0" lang="en-US" sz="135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135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b="0" i="0" lang="en-US" sz="1350" u="none" cap="none" strike="noStrike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1350">
                <a:solidFill>
                  <a:srgbClr val="4B5563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" name="Google Shape;27;p1"/>
          <p:cNvGrpSpPr/>
          <p:nvPr/>
        </p:nvGrpSpPr>
        <p:grpSpPr>
          <a:xfrm>
            <a:off x="0" y="5979638"/>
            <a:ext cx="12192000" cy="764062"/>
            <a:chOff x="0" y="5979638"/>
            <a:chExt cx="12192000" cy="764062"/>
          </a:xfrm>
        </p:grpSpPr>
        <p:pic>
          <p:nvPicPr>
            <p:cNvPr descr="preencoded.png" id="28" name="Google Shape;28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0" y="5981700"/>
              <a:ext cx="1219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1"/>
            <p:cNvSpPr/>
            <p:nvPr/>
          </p:nvSpPr>
          <p:spPr>
            <a:xfrm>
              <a:off x="10418445" y="6276975"/>
              <a:ext cx="1773555" cy="171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4B5563"/>
                </a:buClr>
                <a:buSzPts val="1800"/>
                <a:buFont typeface="Montserrat"/>
                <a:buNone/>
              </a:pPr>
              <a:r>
                <a:rPr b="1" i="0" lang="en-US" sz="1800" u="none" cap="none" strike="noStrike">
                  <a:solidFill>
                    <a:srgbClr val="4B556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CSAI School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" name="Google Shape;30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16744" y="5979638"/>
              <a:ext cx="3740342" cy="76203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Problem Statement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81000" y="1311875"/>
            <a:ext cx="10742700" cy="3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Problem Statement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Smart cities still rely on inefficient fixed-time traffic lights that do not adapt to real-time traffic.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Impact</a:t>
            </a:r>
            <a:r>
              <a:rPr b="1" lang="en-US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Congestion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Long waiting time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Higher CO₂ emissions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Fuel waste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Motivation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Smart cities are expanding, traffic is becoming unpredictable, and we need an AI-driven system that reacts instantly to reduce delays and emissions.</a:t>
            </a:r>
            <a:endParaRPr i="1" sz="1100">
              <a:solidFill>
                <a:schemeClr val="dk1"/>
              </a:solidFill>
            </a:endParaRPr>
          </a:p>
        </p:txBody>
      </p:sp>
      <p:pic>
        <p:nvPicPr>
          <p:cNvPr id="40" name="Google Shape;4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37725" y="4757025"/>
            <a:ext cx="2875100" cy="17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28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381000" y="190500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Proposed Solution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09600" y="533400"/>
            <a:ext cx="4876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297525" y="1311902"/>
            <a:ext cx="10826100" cy="37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Proposed Solution Overview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SUMOFlow AI integrates </a:t>
            </a:r>
            <a:r>
              <a:rPr b="1" lang="en-US" sz="1100">
                <a:solidFill>
                  <a:schemeClr val="dk1"/>
                </a:solidFill>
              </a:rPr>
              <a:t>SUMO traffic simulation</a:t>
            </a:r>
            <a:r>
              <a:rPr lang="en-US" sz="1100">
                <a:solidFill>
                  <a:schemeClr val="dk1"/>
                </a:solidFill>
              </a:rPr>
              <a:t>,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chemeClr val="dk1"/>
                </a:solidFill>
              </a:rPr>
              <a:t>YOLO object detection, </a:t>
            </a:r>
            <a:r>
              <a:rPr lang="en-US" sz="1100">
                <a:solidFill>
                  <a:schemeClr val="dk1"/>
                </a:solidFill>
              </a:rPr>
              <a:t>and </a:t>
            </a:r>
            <a:r>
              <a:rPr b="1" lang="en-US" sz="1100">
                <a:solidFill>
                  <a:schemeClr val="dk1"/>
                </a:solidFill>
              </a:rPr>
              <a:t>optimization algorithms </a:t>
            </a:r>
            <a:r>
              <a:rPr lang="en-US" sz="1100">
                <a:solidFill>
                  <a:schemeClr val="dk1"/>
                </a:solidFill>
              </a:rPr>
              <a:t>to dynamically control traffic light timing and improve traffic flow.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Key Features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Traffic simulation for many scenarios using SUMO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Real-time vehicle detection using YOLO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Optimization engine to find best signal timings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Reduction of congestion and CO₂ emissions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descr="preencoded.png" id="54" name="Google Shape;5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19325" y="3226775"/>
            <a:ext cx="3663250" cy="16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9325" y="5032500"/>
            <a:ext cx="3663250" cy="16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Audience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297525" y="1311882"/>
            <a:ext cx="10826100" cy="4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Primary User Persona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City traffic authorities, transportation departments, and smart-city developers.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User Characteristics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Need real-time monitoring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Manage traffic networks and congestion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Aim to improve environmental quality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Seek efficient and automated traffic systems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The Need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They require an intelligent, data-driven system that adapts signal timing dynamically to reduce congestion, emissions, and waiting time solving a gap current fixed-timing systems cannot.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</p:txBody>
      </p:sp>
      <p:pic>
        <p:nvPicPr>
          <p:cNvPr descr="preencoded.png" id="67" name="Google Shape;6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85738" y="4320525"/>
            <a:ext cx="3272174" cy="24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150" y="973325"/>
            <a:ext cx="2151124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6175" y="973325"/>
            <a:ext cx="3458875" cy="52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83174" y="973325"/>
            <a:ext cx="31197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1325" y="973325"/>
            <a:ext cx="3294301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486075"/>
            <a:ext cx="11604774" cy="60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5070" y="2084309"/>
            <a:ext cx="300781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2886" y="2084309"/>
            <a:ext cx="3008114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000" y="2089975"/>
            <a:ext cx="11566052" cy="472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1000" y="2596295"/>
            <a:ext cx="11429999" cy="60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4" name="Google Shape;8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2900" y="3342675"/>
            <a:ext cx="11506200" cy="69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5" name="Google Shape;85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725" y="4342109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381000" y="209550"/>
            <a:ext cx="75895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Competitive Analysis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59100" y="1168513"/>
            <a:ext cx="18960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255100" y="1159975"/>
            <a:ext cx="22788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SUMOFlow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683175" y="1106876"/>
            <a:ext cx="2323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Giza Systems ITS (NAC)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848450" y="1014500"/>
            <a:ext cx="2657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</a:rPr>
              <a:t>Dubai RTA – UTC-UX Fusion System (MENA / UAE)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94400" y="1682013"/>
            <a:ext cx="16254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Technology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2464113" y="1623475"/>
            <a:ext cx="34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SUMO, YOLO, Optimization</a:t>
            </a:r>
            <a:endParaRPr sz="1200"/>
          </a:p>
        </p:txBody>
      </p:sp>
      <p:sp>
        <p:nvSpPr>
          <p:cNvPr id="93" name="Google Shape;93;p5"/>
          <p:cNvSpPr/>
          <p:nvPr/>
        </p:nvSpPr>
        <p:spPr>
          <a:xfrm>
            <a:off x="5795075" y="1645614"/>
            <a:ext cx="30078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Big Data, Adaptive Algorithms</a:t>
            </a:r>
            <a:endParaRPr sz="1200"/>
          </a:p>
        </p:txBody>
      </p:sp>
      <p:sp>
        <p:nvSpPr>
          <p:cNvPr id="94" name="Google Shape;94;p5"/>
          <p:cNvSpPr/>
          <p:nvPr/>
        </p:nvSpPr>
        <p:spPr>
          <a:xfrm>
            <a:off x="8722938" y="1560213"/>
            <a:ext cx="316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V2X, Predictive AI, Digital Twin</a:t>
            </a:r>
            <a:endParaRPr sz="1200"/>
          </a:p>
        </p:txBody>
      </p:sp>
      <p:sp>
        <p:nvSpPr>
          <p:cNvPr id="95" name="Google Shape;95;p5"/>
          <p:cNvSpPr/>
          <p:nvPr/>
        </p:nvSpPr>
        <p:spPr>
          <a:xfrm>
            <a:off x="523875" y="2259975"/>
            <a:ext cx="1812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452175" y="2202475"/>
            <a:ext cx="33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Real-time, Simulation, Loop</a:t>
            </a:r>
            <a:endParaRPr sz="1200"/>
          </a:p>
        </p:txBody>
      </p:sp>
      <p:sp>
        <p:nvSpPr>
          <p:cNvPr id="97" name="Google Shape;97;p5"/>
          <p:cNvSpPr/>
          <p:nvPr/>
        </p:nvSpPr>
        <p:spPr>
          <a:xfrm>
            <a:off x="5795050" y="2202475"/>
            <a:ext cx="30534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Analytics, Signal Adaptation</a:t>
            </a:r>
            <a:endParaRPr sz="1200"/>
          </a:p>
        </p:txBody>
      </p:sp>
      <p:sp>
        <p:nvSpPr>
          <p:cNvPr id="98" name="Google Shape;98;p5"/>
          <p:cNvSpPr/>
          <p:nvPr/>
        </p:nvSpPr>
        <p:spPr>
          <a:xfrm>
            <a:off x="8658863" y="2199425"/>
            <a:ext cx="31680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Central Control, Coordination, Public Transport</a:t>
            </a:r>
            <a:endParaRPr sz="1200"/>
          </a:p>
        </p:txBody>
      </p:sp>
      <p:sp>
        <p:nvSpPr>
          <p:cNvPr id="99" name="Google Shape;99;p5"/>
          <p:cNvSpPr/>
          <p:nvPr/>
        </p:nvSpPr>
        <p:spPr>
          <a:xfrm>
            <a:off x="476400" y="2783074"/>
            <a:ext cx="1661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Capability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2436875" y="2912800"/>
            <a:ext cx="32463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Simulation, Modular, Cameras</a:t>
            </a:r>
            <a:endParaRPr sz="1200"/>
          </a:p>
        </p:txBody>
      </p:sp>
      <p:sp>
        <p:nvSpPr>
          <p:cNvPr id="101" name="Google Shape;101;p5"/>
          <p:cNvSpPr/>
          <p:nvPr/>
        </p:nvSpPr>
        <p:spPr>
          <a:xfrm>
            <a:off x="5770175" y="2912800"/>
            <a:ext cx="29457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Unified ITS, Smart City Apps</a:t>
            </a:r>
            <a:endParaRPr sz="1200"/>
          </a:p>
        </p:txBody>
      </p:sp>
      <p:sp>
        <p:nvSpPr>
          <p:cNvPr id="102" name="Google Shape;102;p5"/>
          <p:cNvSpPr/>
          <p:nvPr/>
        </p:nvSpPr>
        <p:spPr>
          <a:xfrm>
            <a:off x="8683013" y="2675088"/>
            <a:ext cx="3119700" cy="11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City Infrastructure, Sensors, Digital Twin</a:t>
            </a:r>
            <a:endParaRPr sz="1200"/>
          </a:p>
        </p:txBody>
      </p:sp>
      <p:sp>
        <p:nvSpPr>
          <p:cNvPr id="103" name="Google Shape;103;p5"/>
          <p:cNvSpPr/>
          <p:nvPr/>
        </p:nvSpPr>
        <p:spPr>
          <a:xfrm>
            <a:off x="494400" y="3561175"/>
            <a:ext cx="131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436875" y="3602063"/>
            <a:ext cx="31032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Low, Simulation, Incremental</a:t>
            </a:r>
            <a:endParaRPr sz="1200"/>
          </a:p>
        </p:txBody>
      </p:sp>
      <p:sp>
        <p:nvSpPr>
          <p:cNvPr id="105" name="Google Shape;105;p5"/>
          <p:cNvSpPr/>
          <p:nvPr/>
        </p:nvSpPr>
        <p:spPr>
          <a:xfrm>
            <a:off x="5739125" y="3574163"/>
            <a:ext cx="30078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High CAPEX, Maintenance</a:t>
            </a:r>
            <a:endParaRPr sz="1600"/>
          </a:p>
        </p:txBody>
      </p:sp>
      <p:sp>
        <p:nvSpPr>
          <p:cNvPr id="106" name="Google Shape;106;p5"/>
          <p:cNvSpPr/>
          <p:nvPr/>
        </p:nvSpPr>
        <p:spPr>
          <a:xfrm>
            <a:off x="8683025" y="3523500"/>
            <a:ext cx="288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/>
              <a:t>High Infrastructure, Operational Cost</a:t>
            </a:r>
            <a:endParaRPr sz="1200"/>
          </a:p>
        </p:txBody>
      </p:sp>
      <p:sp>
        <p:nvSpPr>
          <p:cNvPr id="107" name="Google Shape;107;p5"/>
          <p:cNvSpPr/>
          <p:nvPr/>
        </p:nvSpPr>
        <p:spPr>
          <a:xfrm>
            <a:off x="419088" y="4304009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Differentiators : </a:t>
            </a:r>
            <a:r>
              <a:rPr b="1" lang="en-US">
                <a:solidFill>
                  <a:srgbClr val="FF0000"/>
                </a:solidFill>
              </a:rPr>
              <a:t>What Makes SUMOFlow AI Significantly Different ? 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474575" y="4625450"/>
            <a:ext cx="56586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4587"/>
                </a:solidFill>
              </a:rPr>
              <a:t>Our Innovation </a:t>
            </a:r>
            <a:endParaRPr b="1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4587"/>
                </a:solidFill>
              </a:rPr>
              <a:t>1 - Real-Time Video-Based Detection + High Granularity</a:t>
            </a:r>
            <a:endParaRPr b="1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C4587"/>
                </a:solidFill>
              </a:rPr>
              <a:t>2- Multi-Objective + Sustainability Focus (Emissions)</a:t>
            </a:r>
            <a:endParaRPr b="1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381150" y="5486625"/>
            <a:ext cx="54216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1C4587"/>
                </a:solidFill>
              </a:rPr>
              <a:t>3- Tight Feedback Loop via Simulation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rgbClr val="1C4587"/>
                </a:solidFill>
              </a:rPr>
              <a:t>4- Low-Risk, Cost-Effective Prototyping</a:t>
            </a:r>
            <a:endParaRPr>
              <a:solidFill>
                <a:srgbClr val="1C4587"/>
              </a:solidFill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24250" y="4393925"/>
            <a:ext cx="1522788" cy="160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303325" y="4599698"/>
            <a:ext cx="1812300" cy="140342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 txBox="1"/>
          <p:nvPr/>
        </p:nvSpPr>
        <p:spPr>
          <a:xfrm>
            <a:off x="90725" y="6469075"/>
            <a:ext cx="1173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chemeClr val="hlink"/>
                </a:solidFill>
                <a:hlinkClick r:id="rId15"/>
              </a:rPr>
              <a:t>https://www.gizasystems.com/solutions/transportation/</a:t>
            </a:r>
            <a:r>
              <a:rPr lang="en-US" sz="900"/>
              <a:t>  </a:t>
            </a:r>
            <a:r>
              <a:rPr lang="en-US" sz="900" u="sng">
                <a:solidFill>
                  <a:schemeClr val="hlink"/>
                </a:solidFill>
                <a:hlinkClick r:id="rId16"/>
              </a:rPr>
              <a:t>https://gulfnews.com/uae/transport/dubai-rta-launches-next-generation-ai-powered-traffic-signal-system-1.500195097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2114550"/>
            <a:ext cx="11430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4" name="Google Shape;12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5" name="Google Shape;12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01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19500" y="2400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33800" y="25146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77000" y="19050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91300" y="20193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25000" y="20383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34500" y="2400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4" name="Google Shape;134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48800" y="25146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5" name="Google Shape;135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81000" y="4114800"/>
            <a:ext cx="37083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6" name="Google Shape;136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23875" y="42957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241750" y="4114800"/>
            <a:ext cx="37083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8" name="Google Shape;138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384625" y="42957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p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102501" y="4114800"/>
            <a:ext cx="3708499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0" name="Google Shape;140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245376" y="42957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Roadmap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81000" y="1047750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Project Timeline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81000" y="1314450"/>
            <a:ext cx="1371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This section outlines the high-level plan for the remainder of the project, detailing key phases and milestones to guide development.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0" y="2362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0" y="25908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Week 9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857500" y="28575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2857500" y="30861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</a:rPr>
              <a:t>Requirements and Design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715000" y="23622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715000" y="25908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</a:rPr>
              <a:t>Development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8572500" y="28575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572500" y="30861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B5563"/>
                </a:solidFill>
              </a:rPr>
              <a:t>Testing and Launch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81000" y="3733800"/>
            <a:ext cx="1143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752475" y="4257675"/>
            <a:ext cx="12135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10-12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23875" y="4562475"/>
            <a:ext cx="4107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</a:rPr>
              <a:t>SUMO network setup and YOLO detection.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613225" y="4257675"/>
            <a:ext cx="12135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13-16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384625" y="4486275"/>
            <a:ext cx="344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YOLO integration , Optimization algorithm implementation.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473976" y="4257675"/>
            <a:ext cx="121354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Week 17-18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245375" y="4486275"/>
            <a:ext cx="3565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374151"/>
                </a:solidFill>
              </a:rPr>
              <a:t>Testing traffic scenarios , </a:t>
            </a:r>
            <a:r>
              <a:rPr lang="en-US" sz="1100">
                <a:solidFill>
                  <a:srgbClr val="374151"/>
                </a:solidFill>
              </a:rPr>
              <a:t>Performance</a:t>
            </a:r>
            <a:r>
              <a:rPr lang="en-US" sz="1100">
                <a:solidFill>
                  <a:srgbClr val="374151"/>
                </a:solidFill>
              </a:rPr>
              <a:t> evaluation and </a:t>
            </a:r>
            <a:r>
              <a:rPr lang="en-US" sz="1100">
                <a:solidFill>
                  <a:srgbClr val="374151"/>
                </a:solidFill>
              </a:rPr>
              <a:t>Final</a:t>
            </a:r>
            <a:r>
              <a:rPr lang="en-US" sz="1100">
                <a:solidFill>
                  <a:srgbClr val="374151"/>
                </a:solidFill>
              </a:rPr>
              <a:t> deployment preparation.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0"/>
            <a:ext cx="12192000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86000" y="1876425"/>
            <a:ext cx="76200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57375" y="2314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71675" y="24288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43075" y="33432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57375" y="34956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381000" y="209550"/>
            <a:ext cx="632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292971" y="1190625"/>
            <a:ext cx="560605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 &amp; Questions?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571675" y="1943100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Team Contact Information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2952750" y="2409813"/>
            <a:ext cx="222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838363" y="3476625"/>
            <a:ext cx="160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Phone Number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167077" y="4238625"/>
            <a:ext cx="585769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We welcome your feedback and insights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167077" y="4581525"/>
            <a:ext cx="58576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CSAI School | Zewail City of Science, Technology and Innovation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51658" y="0"/>
            <a:ext cx="3740342" cy="76203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3932250" y="2209796"/>
            <a:ext cx="6729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2"/>
              </a:rPr>
              <a:t>s-rana.gindy@zewailcity.edu.eg</a:t>
            </a:r>
            <a:endParaRPr sz="110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100"/>
              <a:buFont typeface="Roboto"/>
              <a:buChar char="-"/>
            </a:pPr>
            <a:r>
              <a:rPr lang="en-US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3"/>
              </a:rPr>
              <a:t>s-mariam.mahmoud@zewailcity.edu.eg</a:t>
            </a:r>
            <a:endParaRPr sz="110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444746"/>
              </a:buClr>
              <a:buSzPts val="1100"/>
              <a:buFont typeface="Roboto"/>
              <a:buChar char="-"/>
            </a:pPr>
            <a:r>
              <a:rPr lang="en-US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4"/>
              </a:rPr>
              <a:t>s-roaa.said@zewailcity.edu.eg</a:t>
            </a:r>
            <a:endParaRPr sz="110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3932250" y="3164325"/>
            <a:ext cx="6729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+201282852037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+20 11 17783891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-US" sz="1200"/>
              <a:t>+20 11 54003838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2025-11-03T16:40:12Z</dcterms:created>
  <dc:creator>PptxGenJS</dc:creator>
</cp:coreProperties>
</file>